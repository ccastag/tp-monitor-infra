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4503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Presentarnos y decir el tema: Automatizacion en Python. Aclarar que vamos a explicar tres librerias (subprocess, schedule y watchdog) y que al final mostramos el codigo funcionando en vivo. La parte de IA es un agregado corto al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Definicion simple: la compu hace sola lo repetitivo. Dar el ejemplo del lado derecho: antes alguien revisaba servidor por servidor; con automatizacion un script lo hace 24/7. Conectar con que justamente eso es lo que construimos.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el flujo de izquierda a derecha: chequea con ping, lo repite cada X segundos, detecta si un host esta caido y reacciona. El segundo script (watchdog) vigila una carpeta. Esto es el mapa de toda la presentacion.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las tres librerias como un equipo. subprocess le habla al sistema operativo, schedule maneja el tiempo, watchdog reacciona a cambios. En las proximas slides vemos cada una en detalle con su codigo.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subprocess es como un puente entre Python y la terminal del sistema. Armamos el comando ping como una lista, lo ejecutamos con subprocess.run, y miramos el returncode: 0 significa que el host respondio. Mencionar que el mismo subprocess lo usamos despues para la notificacion de Mac con osascript.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schedule maneja el tiempo. Con una sola linea decimos every(10).seconds.do(funcion). Importante: la funcion va sin parentesis porque schedule la llama sola. El bucle while True con run_pending mantiene el programa vivo revisando si toca ejecutar. El sleep(1) evita saturar el procesador.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watchdog es distinto de schedule: schedule repite cada X tiempo, watchdog reacciona solo cuando pasa algo. Explicar herencia: nuestra clase Vigilante hereda de FileSystemEventHandler, asi aprovechamos todo lo que watchdog ya sabe y solo definimos como reaccionar. Es programacion orientada a eventos.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momento wow. Cuando un host no responde, el programa no solo lo muestra en rojo: escribe la falla en un archivo de alertas con fecha y hora, y lanza una notificacion real del escritorio. Para la demo en vivo podemos agregar una IP que no existe y se dispara todo.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transicion. Pasar a PyCharm y correr monitor_infra.py. Pasos sugeridos: 1) elegir opcion 2 e ingresar IPs (incluir una falsa como 10.0.0.99), 2) mostrar la consola con UP en verde y DOWN en rojo, 3) mostrar la notificacion y abrir alertas.log en Documentos, 4) correr monitor_carpeta.py y crear un archivo en la carpeta vigilada.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Maximo 5 minutos. Explicacion simple: un agente percibe, decide y actua. El gancho es conectar con nuestro proyecto: el monitor detecta la caida pero sigue una regla fija; un AI agent ademas decidiria que accion tomar. Misma logica de automatizacion, con capacidad de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la arquitectura empezando por el AGENTE, que es el orquestador. El flujo: el agente arranca, lee el ticket del ITSM por API (ej. ManageEngine ServiceDesk), busca posibles soluciones en la base de conocimiento, y le manda todo eso al LLM (Claude, GPT o Copilot) por API para que razone y redacte. La respuesta vuelve al agente y se la entrega al tecnico humano, que valida y responde. Remarcar las dos conexiones por API: hacia el ITSM y hacia el LLM.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Aclarar que el LLM es el modelo que entiende y redacta: los mas conocidos son Claude (Anthropic), GPT (OpenAI) y Copilot (Microsoft). La conexion es por API: una API es la forma en que dos programas se comunican. El agente arma una llamada con el ticket y las soluciones encontradas, se la manda al LLM por internet, y recibe la respuesta redactada. El pseudo-codigo de la derecha ilustra esa llamada (no es una libreria real, es para que se entienda la idea).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Recapitular las tres librerias y agradecer. Abrir el espacio de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~/istea $ python monitor_infra.py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Automatización con Python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66928" y="2331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Monitoreo de Infraestructura </a:t>
            </a:r>
            <a:r>
              <a:rPr lang="en-US" sz="20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tiempo real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635240" y="3383280"/>
            <a:ext cx="1143000" cy="1143000"/>
          </a:xfrm>
          <a:prstGeom prst="ellipse">
            <a:avLst/>
          </a:prstGeom>
          <a:solidFill>
            <a:srgbClr val="22D3EE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20" y="368046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33832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1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Tecnicatura en Soporte de Infraestructura · ISTEA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Profesor: Juan Pablo Sosa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6928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Integrantes:  </a:t>
            </a:r>
            <a:r>
              <a:rPr lang="en-US" sz="1300" i="1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[completar nombres del grupo]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r>
              <a:rPr lang="en-US" sz="2800" b="1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la Automatización?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709160" cy="3291840"/>
          </a:xfrm>
          <a:prstGeom prst="roundRect">
            <a:avLst>
              <a:gd name="adj" fmla="val 1667"/>
            </a:avLst>
          </a:prstGeom>
          <a:solidFill>
            <a:srgbClr val="1A2336"/>
          </a:solidFill>
          <a:ln w="12700">
            <a:solidFill>
              <a:srgbClr val="2C3A57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868680" y="155448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Hacer que la computadora ejecute tareas repetitivas por sí sola, sin que una persona tenga que hacerlas a mano cada vez.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2788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infraestructura es el pan de cada día: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315468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Monitorear servidores 24/7 sin descanso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Evitar errores humanos por tareas manuales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Reaccionar al instante ante una falla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532120" y="1234440"/>
            <a:ext cx="3063240" cy="3291840"/>
          </a:xfrm>
          <a:prstGeom prst="roundRect">
            <a:avLst>
              <a:gd name="adj" fmla="val 1791"/>
            </a:avLst>
          </a:prstGeom>
          <a:solidFill>
            <a:srgbClr val="1A2336"/>
          </a:solidFill>
          <a:ln w="12700">
            <a:solidFill>
              <a:srgbClr val="2C3A57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6720840" y="1508760"/>
            <a:ext cx="685800" cy="685800"/>
          </a:xfrm>
          <a:prstGeom prst="ellipse">
            <a:avLst/>
          </a:prstGeom>
          <a:solidFill>
            <a:srgbClr val="FBBF24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9148" y="1687068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532120" y="22860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760720" y="257860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persona revisa cada servidor a mano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532120" y="31546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D3EE"/>
                </a:solidFill>
              </a:rPr>
              <a:t>↓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532120" y="34747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Automatizado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760720" y="376732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script lo hace solo, todo el tiempo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r>
              <a:rPr lang="en-US" sz="2800" b="1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construimos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monitor de infraestructura que vigila servidores y reacciona solo cuando algo falla.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783080" cy="2286000"/>
          </a:xfrm>
          <a:prstGeom prst="roundRect">
            <a:avLst>
              <a:gd name="adj" fmla="val 3077"/>
            </a:avLst>
          </a:prstGeom>
          <a:solidFill>
            <a:srgbClr val="1A2336"/>
          </a:solidFill>
          <a:ln w="12700">
            <a:solidFill>
              <a:srgbClr val="2C3A57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1115568" y="2011680"/>
            <a:ext cx="658368" cy="658368"/>
          </a:xfrm>
          <a:prstGeom prst="ellipse">
            <a:avLst/>
          </a:prstGeom>
          <a:solidFill>
            <a:srgbClr val="22D3EE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6744" y="2182856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7889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Chequea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4008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hace ping 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host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313432" y="22402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D3EE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2788920" y="1783080"/>
            <a:ext cx="1783080" cy="2286000"/>
          </a:xfrm>
          <a:prstGeom prst="roundRect">
            <a:avLst>
              <a:gd name="adj" fmla="val 3077"/>
            </a:avLst>
          </a:prstGeom>
          <a:solidFill>
            <a:srgbClr val="1A2336"/>
          </a:solidFill>
          <a:ln w="12700">
            <a:solidFill>
              <a:srgbClr val="2C3A57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8"/>
          <p:cNvSpPr/>
          <p:nvPr/>
        </p:nvSpPr>
        <p:spPr>
          <a:xfrm>
            <a:off x="3355848" y="2011680"/>
            <a:ext cx="658368" cy="658368"/>
          </a:xfrm>
          <a:prstGeom prst="ellipse">
            <a:avLst/>
          </a:prstGeom>
          <a:solidFill>
            <a:srgbClr val="FBBF24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7024" y="2182856"/>
            <a:ext cx="316017" cy="31601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88920" y="27889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X seg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288036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repite el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chequeo solo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553712" y="22402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D3EE"/>
                </a:solidFill>
              </a:rPr>
              <a:t>→</a:t>
            </a:r>
            <a:endParaRPr lang="en-US" sz="2400" dirty="0"/>
          </a:p>
        </p:txBody>
      </p:sp>
      <p:sp>
        <p:nvSpPr>
          <p:cNvPr id="16" name="Shape 12"/>
          <p:cNvSpPr/>
          <p:nvPr/>
        </p:nvSpPr>
        <p:spPr>
          <a:xfrm>
            <a:off x="5029200" y="1783080"/>
            <a:ext cx="1783080" cy="2286000"/>
          </a:xfrm>
          <a:prstGeom prst="roundRect">
            <a:avLst>
              <a:gd name="adj" fmla="val 3077"/>
            </a:avLst>
          </a:prstGeom>
          <a:solidFill>
            <a:srgbClr val="1A2336"/>
          </a:solidFill>
          <a:ln w="12700">
            <a:solidFill>
              <a:srgbClr val="2C3A57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3"/>
          <p:cNvSpPr/>
          <p:nvPr/>
        </p:nvSpPr>
        <p:spPr>
          <a:xfrm>
            <a:off x="5596128" y="2011680"/>
            <a:ext cx="658368" cy="658368"/>
          </a:xfrm>
          <a:prstGeom prst="ellipse">
            <a:avLst/>
          </a:prstGeom>
          <a:solidFill>
            <a:srgbClr val="F87171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7304" y="2182856"/>
            <a:ext cx="316017" cy="31601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29200" y="27889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¿Está caído?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512064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 el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sin respuesta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793992" y="22402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D3EE"/>
                </a:solidFill>
              </a:rPr>
              <a:t>→</a:t>
            </a:r>
            <a:endParaRPr lang="en-US" sz="2400" dirty="0"/>
          </a:p>
        </p:txBody>
      </p:sp>
      <p:sp>
        <p:nvSpPr>
          <p:cNvPr id="22" name="Shape 17"/>
          <p:cNvSpPr/>
          <p:nvPr/>
        </p:nvSpPr>
        <p:spPr>
          <a:xfrm>
            <a:off x="7269480" y="1783080"/>
            <a:ext cx="1783080" cy="2286000"/>
          </a:xfrm>
          <a:prstGeom prst="roundRect">
            <a:avLst>
              <a:gd name="adj" fmla="val 3077"/>
            </a:avLst>
          </a:prstGeom>
          <a:solidFill>
            <a:srgbClr val="1A2336"/>
          </a:solidFill>
          <a:ln w="12700">
            <a:solidFill>
              <a:srgbClr val="2C3A57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18"/>
          <p:cNvSpPr/>
          <p:nvPr/>
        </p:nvSpPr>
        <p:spPr>
          <a:xfrm>
            <a:off x="7836408" y="2011680"/>
            <a:ext cx="658368" cy="658368"/>
          </a:xfrm>
          <a:prstGeom prst="ellipse">
            <a:avLst/>
          </a:prstGeom>
          <a:solidFill>
            <a:srgbClr val="34D399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7584" y="2182856"/>
            <a:ext cx="316017" cy="31601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269480" y="27889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Reacciona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7360920" y="315468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avisa, notifica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registra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Además, un segundo script vigila una carpeta y avisa cuando se crea, edita o borra un archivo.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r>
              <a:rPr lang="en-US" sz="2800" b="1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herramientas: 3 librerías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tres pertenecen a la categoría Automatización de Python.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14600" cy="2788920"/>
          </a:xfrm>
          <a:prstGeom prst="roundRect">
            <a:avLst>
              <a:gd name="adj" fmla="val 2182"/>
            </a:avLst>
          </a:prstGeom>
          <a:solidFill>
            <a:srgbClr val="1A2336"/>
          </a:solidFill>
          <a:ln w="12700">
            <a:solidFill>
              <a:srgbClr val="2C3A57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1417320" y="1965960"/>
            <a:ext cx="777240" cy="777240"/>
          </a:xfrm>
          <a:prstGeom prst="ellipse">
            <a:avLst/>
          </a:prstGeom>
          <a:solidFill>
            <a:srgbClr val="22D3EE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402" y="216804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8803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subprocess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333756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 comandos del sistema operativo desde Python (como ping).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91840" y="1691640"/>
            <a:ext cx="2514600" cy="2788920"/>
          </a:xfrm>
          <a:prstGeom prst="roundRect">
            <a:avLst>
              <a:gd name="adj" fmla="val 2182"/>
            </a:avLst>
          </a:prstGeom>
          <a:solidFill>
            <a:srgbClr val="1A2336"/>
          </a:solidFill>
          <a:ln w="12700">
            <a:solidFill>
              <a:srgbClr val="2C3A57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7"/>
          <p:cNvSpPr/>
          <p:nvPr/>
        </p:nvSpPr>
        <p:spPr>
          <a:xfrm>
            <a:off x="4160520" y="1965960"/>
            <a:ext cx="777240" cy="777240"/>
          </a:xfrm>
          <a:prstGeom prst="ellipse">
            <a:avLst/>
          </a:prstGeom>
          <a:solidFill>
            <a:srgbClr val="FBBF24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2602" y="216804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91840" y="28803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474720" y="333756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 tareas para que se repitan cada cierto tiempo.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035040" y="1691640"/>
            <a:ext cx="2514600" cy="2788920"/>
          </a:xfrm>
          <a:prstGeom prst="roundRect">
            <a:avLst>
              <a:gd name="adj" fmla="val 2182"/>
            </a:avLst>
          </a:prstGeom>
          <a:solidFill>
            <a:srgbClr val="1A2336"/>
          </a:solidFill>
          <a:ln w="12700">
            <a:solidFill>
              <a:srgbClr val="2C3A57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1"/>
          <p:cNvSpPr/>
          <p:nvPr/>
        </p:nvSpPr>
        <p:spPr>
          <a:xfrm>
            <a:off x="6903720" y="1965960"/>
            <a:ext cx="777240" cy="777240"/>
          </a:xfrm>
          <a:prstGeom prst="ellipse">
            <a:avLst/>
          </a:prstGeom>
          <a:solidFill>
            <a:srgbClr val="A78BFA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5802" y="216804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35040" y="28803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watchdog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217920" y="333756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Reacciona automáticamente a los cambios en archivos y carpetas.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r>
              <a:rPr lang="en-US" sz="2800" b="1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subprocess — hablarle al sistema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818120" y="411480"/>
            <a:ext cx="777240" cy="777240"/>
          </a:xfrm>
          <a:prstGeom prst="ellipse">
            <a:avLst/>
          </a:prstGeom>
          <a:solidFill>
            <a:srgbClr val="22D3EE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0202" y="613562"/>
            <a:ext cx="373075" cy="3730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28016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hace?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que Python ejecute comandos del sistema operativo y lea su resultado.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usamos dos veces: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Hacer ping para ver si un host responde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Lanzar una notificación de escritorio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0" y="1325880"/>
            <a:ext cx="4023360" cy="3017520"/>
          </a:xfrm>
          <a:prstGeom prst="roundRect">
            <a:avLst>
              <a:gd name="adj" fmla="val 2121"/>
            </a:avLst>
          </a:prstGeom>
          <a:solidFill>
            <a:srgbClr val="10182A"/>
          </a:solidFill>
          <a:ln w="12700">
            <a:solidFill>
              <a:srgbClr val="2C3A57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4754880" y="1481328"/>
            <a:ext cx="100584" cy="100584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5"/>
          <p:cNvSpPr/>
          <p:nvPr/>
        </p:nvSpPr>
        <p:spPr>
          <a:xfrm>
            <a:off x="4919472" y="1481328"/>
            <a:ext cx="100584" cy="100584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6"/>
          <p:cNvSpPr/>
          <p:nvPr/>
        </p:nvSpPr>
        <p:spPr>
          <a:xfrm>
            <a:off x="5084064" y="1481328"/>
            <a:ext cx="100584" cy="100584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4800600" y="1783080"/>
            <a:ext cx="3566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8A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 = un solo paquete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comando = </a:t>
            </a:r>
            <a:r>
              <a:rPr lang="en-US" sz="12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250" dirty="0">
                <a:solidFill>
                  <a:srgbClr val="7DD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"ping"</a:t>
            </a:r>
            <a:r>
              <a:rPr lang="en-US" sz="125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250" dirty="0">
                <a:solidFill>
                  <a:srgbClr val="7DD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"-c"</a:t>
            </a:r>
            <a:r>
              <a:rPr lang="en-US" sz="125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250" dirty="0">
                <a:solidFill>
                  <a:srgbClr val="7DD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"1"</a:t>
            </a:r>
            <a:r>
              <a:rPr lang="en-US" sz="12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host]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</a:t>
            </a:r>
            <a:r>
              <a:rPr lang="en-US" sz="12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subprocess</a:t>
            </a:r>
            <a:r>
              <a:rPr lang="en-US" sz="125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.run(comando,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capture_output=</a:t>
            </a:r>
            <a:r>
              <a:rPr lang="en-US" sz="12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25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8A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returncode 0 = respondió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5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r.returncode == </a:t>
            </a:r>
            <a:r>
              <a:rPr lang="en-US" sz="12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r>
              <a:rPr lang="en-US" sz="2800" b="1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— repetir solo en el tiempo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818120" y="411480"/>
            <a:ext cx="777240" cy="777240"/>
          </a:xfrm>
          <a:prstGeom prst="ellipse">
            <a:avLst/>
          </a:prstGeom>
          <a:solidFill>
            <a:srgbClr val="FBBF24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0202" y="613562"/>
            <a:ext cx="373075" cy="3730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28016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hace?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 una tarea para que se ejecute sola cada cierto intervalo, sin que la llamemos nosotros.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clave: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pasamos la función SIN paréntesis: schedule la va a llamar por nosotros en el momento justo.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0" y="1325880"/>
            <a:ext cx="4023360" cy="3017520"/>
          </a:xfrm>
          <a:prstGeom prst="roundRect">
            <a:avLst>
              <a:gd name="adj" fmla="val 2121"/>
            </a:avLst>
          </a:prstGeom>
          <a:solidFill>
            <a:srgbClr val="10182A"/>
          </a:solidFill>
          <a:ln w="12700">
            <a:solidFill>
              <a:srgbClr val="2C3A57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4754880" y="1481328"/>
            <a:ext cx="100584" cy="100584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5"/>
          <p:cNvSpPr/>
          <p:nvPr/>
        </p:nvSpPr>
        <p:spPr>
          <a:xfrm>
            <a:off x="4919472" y="1481328"/>
            <a:ext cx="100584" cy="100584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6"/>
          <p:cNvSpPr/>
          <p:nvPr/>
        </p:nvSpPr>
        <p:spPr>
          <a:xfrm>
            <a:off x="5084064" y="1481328"/>
            <a:ext cx="100584" cy="100584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4800600" y="1783080"/>
            <a:ext cx="3566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8A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repetir cada 10 segundos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</a:t>
            </a:r>
            <a:r>
              <a:rPr lang="en-US" sz="125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.every(</a:t>
            </a:r>
            <a:r>
              <a:rPr lang="en-US" sz="12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25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).seconds.do(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chequear_servidores)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2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True</a:t>
            </a:r>
            <a:r>
              <a:rPr lang="en-US" sz="125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schedule</a:t>
            </a:r>
            <a:r>
              <a:rPr lang="en-US" sz="125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.run_pending()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</a:t>
            </a:r>
            <a:r>
              <a:rPr lang="en-US" sz="125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.sleep(</a:t>
            </a:r>
            <a:r>
              <a:rPr lang="en-US" sz="12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25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r>
              <a:rPr lang="en-US" sz="2800" b="1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watchdog — reaccionar a los cambios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818120" y="411480"/>
            <a:ext cx="777240" cy="777240"/>
          </a:xfrm>
          <a:prstGeom prst="ellipse">
            <a:avLst/>
          </a:prstGeom>
          <a:solidFill>
            <a:srgbClr val="A78BFA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0202" y="613562"/>
            <a:ext cx="373075" cy="3730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28016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hace?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Vigila una carpeta y ejecuta código solo cuando algo cambia: se crea, edita, borra o mueve un archivo.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conceptos clave: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Herencia: nuestra clase hereda de watchdog.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Orientado a eventos: reacciona, no pregunta.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0" y="1325880"/>
            <a:ext cx="4023360" cy="3017520"/>
          </a:xfrm>
          <a:prstGeom prst="roundRect">
            <a:avLst>
              <a:gd name="adj" fmla="val 2121"/>
            </a:avLst>
          </a:prstGeom>
          <a:solidFill>
            <a:srgbClr val="10182A"/>
          </a:solidFill>
          <a:ln w="12700">
            <a:solidFill>
              <a:srgbClr val="2C3A57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4754880" y="1481328"/>
            <a:ext cx="100584" cy="100584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5"/>
          <p:cNvSpPr/>
          <p:nvPr/>
        </p:nvSpPr>
        <p:spPr>
          <a:xfrm>
            <a:off x="4919472" y="1481328"/>
            <a:ext cx="100584" cy="100584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6"/>
          <p:cNvSpPr/>
          <p:nvPr/>
        </p:nvSpPr>
        <p:spPr>
          <a:xfrm>
            <a:off x="5084064" y="1481328"/>
            <a:ext cx="100584" cy="100584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4800600" y="1783080"/>
            <a:ext cx="3566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25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Vigilante(</a:t>
            </a:r>
            <a:r>
              <a:rPr lang="en-US" sz="12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FileSystemEventHandler</a:t>
            </a:r>
            <a:r>
              <a:rPr lang="en-US" sz="125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</a:t>
            </a:r>
            <a:r>
              <a:rPr lang="en-US" sz="125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on_created(self, event):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</a:t>
            </a:r>
            <a:r>
              <a:rPr lang="en-US" sz="1250" dirty="0">
                <a:solidFill>
                  <a:srgbClr val="7DD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"CREADO:"</a:t>
            </a:r>
            <a:r>
              <a:rPr lang="en-US" sz="125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event.src_path)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8A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 dispara solo al crear un archivo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r>
              <a:rPr lang="en-US" sz="2800" b="1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un servidor se cae…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15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 UP  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468880" y="1188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A96A8"/>
                </a:solidFill>
              </a:rPr>
              <a:t>→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063240" y="123444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063240" y="12344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15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DOWN 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57800" y="126187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monitor dispara 2 reacciones automáticas: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417320" y="2057400"/>
            <a:ext cx="2926080" cy="2331720"/>
          </a:xfrm>
          <a:prstGeom prst="roundRect">
            <a:avLst>
              <a:gd name="adj" fmla="val 2353"/>
            </a:avLst>
          </a:prstGeom>
          <a:solidFill>
            <a:srgbClr val="1A2336"/>
          </a:solidFill>
          <a:ln w="12700">
            <a:solidFill>
              <a:srgbClr val="2C3A57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2514600" y="2286000"/>
            <a:ext cx="731520" cy="731520"/>
          </a:xfrm>
          <a:prstGeom prst="ellipse">
            <a:avLst/>
          </a:prstGeom>
          <a:solidFill>
            <a:srgbClr val="22D3EE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4795" y="2476195"/>
            <a:ext cx="351130" cy="35113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17320" y="31546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Archivo de alertas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645920" y="35204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Escribe la falla con fecha y hora en un .log.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800600" y="2057400"/>
            <a:ext cx="2926080" cy="2331720"/>
          </a:xfrm>
          <a:prstGeom prst="roundRect">
            <a:avLst>
              <a:gd name="adj" fmla="val 2353"/>
            </a:avLst>
          </a:prstGeom>
          <a:solidFill>
            <a:srgbClr val="1A2336"/>
          </a:solidFill>
          <a:ln w="12700">
            <a:solidFill>
              <a:srgbClr val="2C3A57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2"/>
          <p:cNvSpPr/>
          <p:nvPr/>
        </p:nvSpPr>
        <p:spPr>
          <a:xfrm>
            <a:off x="5897880" y="2286000"/>
            <a:ext cx="731520" cy="731520"/>
          </a:xfrm>
          <a:prstGeom prst="ellipse">
            <a:avLst/>
          </a:prstGeom>
          <a:solidFill>
            <a:srgbClr val="34D399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8075" y="2476195"/>
            <a:ext cx="351130" cy="35113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800600" y="31546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Notificación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5029200" y="35204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Aparece un aviso del escritorio (vía subprocess).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8720" y="1051560"/>
            <a:ext cx="6766560" cy="3017520"/>
          </a:xfrm>
          <a:prstGeom prst="roundRect">
            <a:avLst>
              <a:gd name="adj" fmla="val 2424"/>
            </a:avLst>
          </a:prstGeom>
          <a:solidFill>
            <a:srgbClr val="10182A"/>
          </a:solidFill>
          <a:ln w="12700">
            <a:solidFill>
              <a:srgbClr val="2C3A57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1463040" y="1298448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1664208" y="129844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1865376" y="129844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1188720" y="178308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EN VIVO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188720" y="260604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monitor_infra.py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32004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Mostramos: configurar las IPs · ver UP/DOWN · provocar una caída · el archivo de alertas · vigilar una carpeta con watchdog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r>
              <a:rPr lang="en-US" sz="2800" b="1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IA: ¿Qué es un AI Agent?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8046720" cy="1051560"/>
          </a:xfrm>
          <a:prstGeom prst="roundRect">
            <a:avLst>
              <a:gd name="adj" fmla="val 5217"/>
            </a:avLst>
          </a:prstGeom>
          <a:solidFill>
            <a:srgbClr val="1A2336"/>
          </a:solidFill>
          <a:ln w="12700">
            <a:solidFill>
              <a:srgbClr val="2C3A57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868680" y="1417320"/>
            <a:ext cx="713232" cy="713232"/>
          </a:xfrm>
          <a:prstGeom prst="ellipse">
            <a:avLst/>
          </a:prstGeom>
          <a:solidFill>
            <a:srgbClr val="34D399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120" y="1602760"/>
            <a:ext cx="342351" cy="3423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325880"/>
            <a:ext cx="6492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programa de IA que percibe su entorno, decide qué hacer y actúa por sí mismo para cumplir un objetivo.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48640" y="2468880"/>
            <a:ext cx="2514600" cy="1417320"/>
          </a:xfrm>
          <a:prstGeom prst="roundRect">
            <a:avLst>
              <a:gd name="adj" fmla="val 3871"/>
            </a:avLst>
          </a:prstGeom>
          <a:solidFill>
            <a:srgbClr val="222E45"/>
          </a:solidFill>
          <a:ln w="12700">
            <a:solidFill>
              <a:srgbClr val="2C3A57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Shape 5"/>
          <p:cNvSpPr/>
          <p:nvPr/>
        </p:nvSpPr>
        <p:spPr>
          <a:xfrm>
            <a:off x="777240" y="2697480"/>
            <a:ext cx="566928" cy="566928"/>
          </a:xfrm>
          <a:prstGeom prst="ellipse">
            <a:avLst/>
          </a:prstGeom>
          <a:solidFill>
            <a:srgbClr val="22D3EE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641" y="2844881"/>
            <a:ext cx="272125" cy="2721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67004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Percibe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417320" y="30175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datos del entorno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3044952" y="27889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A96A8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9"/>
          <p:cNvSpPr/>
          <p:nvPr/>
        </p:nvSpPr>
        <p:spPr>
          <a:xfrm>
            <a:off x="3291840" y="2468880"/>
            <a:ext cx="2514600" cy="1417320"/>
          </a:xfrm>
          <a:prstGeom prst="roundRect">
            <a:avLst>
              <a:gd name="adj" fmla="val 3871"/>
            </a:avLst>
          </a:prstGeom>
          <a:solidFill>
            <a:srgbClr val="222E45"/>
          </a:solidFill>
          <a:ln w="12700">
            <a:solidFill>
              <a:srgbClr val="2C3A57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0"/>
          <p:cNvSpPr/>
          <p:nvPr/>
        </p:nvSpPr>
        <p:spPr>
          <a:xfrm>
            <a:off x="3520440" y="2697480"/>
            <a:ext cx="566928" cy="566928"/>
          </a:xfrm>
          <a:prstGeom prst="ellipse">
            <a:avLst/>
          </a:prstGeom>
          <a:solidFill>
            <a:srgbClr val="FBBF24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7841" y="2844881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160520" y="267004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4160520" y="30175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elige la mejor acción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5788152" y="27889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A96A8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Shape 14"/>
          <p:cNvSpPr/>
          <p:nvPr/>
        </p:nvSpPr>
        <p:spPr>
          <a:xfrm>
            <a:off x="6035040" y="2468880"/>
            <a:ext cx="2514600" cy="1417320"/>
          </a:xfrm>
          <a:prstGeom prst="roundRect">
            <a:avLst>
              <a:gd name="adj" fmla="val 3871"/>
            </a:avLst>
          </a:prstGeom>
          <a:solidFill>
            <a:srgbClr val="222E45"/>
          </a:solidFill>
          <a:ln w="12700">
            <a:solidFill>
              <a:srgbClr val="2C3A57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hape 15"/>
          <p:cNvSpPr/>
          <p:nvPr/>
        </p:nvSpPr>
        <p:spPr>
          <a:xfrm>
            <a:off x="6263640" y="2697480"/>
            <a:ext cx="566928" cy="566928"/>
          </a:xfrm>
          <a:prstGeom prst="ellipse">
            <a:avLst/>
          </a:prstGeom>
          <a:solidFill>
            <a:srgbClr val="34D399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1041" y="2844881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03720" y="267004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Actúa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903720" y="30175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 esa acción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48640" y="40690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puente:  </a:t>
            </a:r>
            <a:r>
              <a:rPr lang="en-US" sz="13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nuestro monitor sigue reglas fijas que escribimos. Un AI Agent </a:t>
            </a:r>
            <a:r>
              <a:rPr lang="en-US" sz="1350" i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decidiría</a:t>
            </a:r>
            <a:r>
              <a:rPr lang="en-US" sz="13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qué hacer ante la caída (reiniciar el servicio, escalar). Misma idea, un escalón más arriba.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r>
              <a:rPr lang="en-US" sz="2800" b="1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Arquitectura: agente de Mesa de Ayuda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agente es el orquestador: arranca el flujo, junta los datos y arma la respuesta.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0" y="2121408"/>
            <a:ext cx="0" cy="347472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4572000" y="3566160"/>
            <a:ext cx="0" cy="347472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2743200" y="3026664"/>
            <a:ext cx="59436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5806440" y="3026664"/>
            <a:ext cx="59436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4663440" y="21031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59152" y="27249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371600"/>
            <a:ext cx="2651760" cy="749808"/>
          </a:xfrm>
          <a:prstGeom prst="roundRect">
            <a:avLst>
              <a:gd name="adj" fmla="val 7317"/>
            </a:avLst>
          </a:prstGeom>
          <a:solidFill>
            <a:srgbClr val="1A2336"/>
          </a:solidFill>
          <a:ln w="12700">
            <a:solidFill>
              <a:srgbClr val="2C3A57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3383280" y="1463040"/>
            <a:ext cx="548640" cy="548640"/>
          </a:xfrm>
          <a:prstGeom prst="ellipse">
            <a:avLst/>
          </a:prstGeom>
          <a:solidFill>
            <a:srgbClr val="22D3EE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5926" y="1605686"/>
            <a:ext cx="263347" cy="26334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041648" y="1426464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(el cerebro)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· GPT · Copilot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337560" y="2468880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222E45"/>
          </a:solidFill>
          <a:ln w="12700">
            <a:solidFill>
              <a:srgbClr val="2C3A57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2"/>
          <p:cNvSpPr/>
          <p:nvPr/>
        </p:nvSpPr>
        <p:spPr>
          <a:xfrm>
            <a:off x="4288536" y="2560320"/>
            <a:ext cx="566928" cy="566928"/>
          </a:xfrm>
          <a:prstGeom prst="ellipse">
            <a:avLst/>
          </a:prstGeom>
          <a:solidFill>
            <a:srgbClr val="34D399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5937" y="2707721"/>
            <a:ext cx="272125" cy="27212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337560" y="31272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3337560" y="33832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orquesta el flujo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57200" y="2606040"/>
            <a:ext cx="2286000" cy="868680"/>
          </a:xfrm>
          <a:prstGeom prst="roundRect">
            <a:avLst>
              <a:gd name="adj" fmla="val 6316"/>
            </a:avLst>
          </a:prstGeom>
          <a:solidFill>
            <a:srgbClr val="1A2336"/>
          </a:solidFill>
          <a:ln w="12700">
            <a:solidFill>
              <a:srgbClr val="2C3A57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hape 16"/>
          <p:cNvSpPr/>
          <p:nvPr/>
        </p:nvSpPr>
        <p:spPr>
          <a:xfrm>
            <a:off x="594360" y="2798064"/>
            <a:ext cx="493776" cy="493776"/>
          </a:xfrm>
          <a:prstGeom prst="ellipse">
            <a:avLst/>
          </a:prstGeom>
          <a:solidFill>
            <a:srgbClr val="FBBF24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742" y="2926446"/>
            <a:ext cx="237012" cy="23701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170432" y="2670048"/>
            <a:ext cx="1508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ITSM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el ticket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400800" y="2606040"/>
            <a:ext cx="2286000" cy="868680"/>
          </a:xfrm>
          <a:prstGeom prst="roundRect">
            <a:avLst>
              <a:gd name="adj" fmla="val 6316"/>
            </a:avLst>
          </a:prstGeom>
          <a:solidFill>
            <a:srgbClr val="1A2336"/>
          </a:solidFill>
          <a:ln w="12700">
            <a:solidFill>
              <a:srgbClr val="2C3A57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4" name="Shape 19"/>
          <p:cNvSpPr/>
          <p:nvPr/>
        </p:nvSpPr>
        <p:spPr>
          <a:xfrm>
            <a:off x="6537960" y="2798064"/>
            <a:ext cx="493776" cy="493776"/>
          </a:xfrm>
          <a:prstGeom prst="ellipse">
            <a:avLst/>
          </a:prstGeom>
          <a:solidFill>
            <a:srgbClr val="34D399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6342" y="2926446"/>
            <a:ext cx="237012" cy="23701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114032" y="2670048"/>
            <a:ext cx="1508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Técnico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 y responde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3246120" y="3913632"/>
            <a:ext cx="2651760" cy="749808"/>
          </a:xfrm>
          <a:prstGeom prst="roundRect">
            <a:avLst>
              <a:gd name="adj" fmla="val 7317"/>
            </a:avLst>
          </a:prstGeom>
          <a:solidFill>
            <a:srgbClr val="1A2336"/>
          </a:solidFill>
          <a:ln w="12700">
            <a:solidFill>
              <a:srgbClr val="2C3A57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8" name="Shape 22"/>
          <p:cNvSpPr/>
          <p:nvPr/>
        </p:nvSpPr>
        <p:spPr>
          <a:xfrm>
            <a:off x="3383280" y="4005072"/>
            <a:ext cx="548640" cy="548640"/>
          </a:xfrm>
          <a:prstGeom prst="ellipse">
            <a:avLst/>
          </a:prstGeom>
          <a:solidFill>
            <a:srgbClr val="A78BFA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5926" y="4147718"/>
            <a:ext cx="263347" cy="263347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041648" y="3968496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conocimiento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soluciones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r>
              <a:rPr lang="en-US" sz="2800" b="1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cerebro: un LLM conectado por API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agente no "piensa" solo: le delega el razonamiento a un modelo de lenguaje grande (LLM).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1A2336"/>
          </a:solidFill>
          <a:ln w="12700">
            <a:solidFill>
              <a:srgbClr val="2C3A57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1485900" y="1664208"/>
            <a:ext cx="640080" cy="640080"/>
          </a:xfrm>
          <a:prstGeom prst="ellipse">
            <a:avLst/>
          </a:prstGeom>
          <a:solidFill>
            <a:srgbClr val="22D3EE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2321" y="183062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35915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26517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91840" y="1554480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1A2336"/>
          </a:solidFill>
          <a:ln w="12700">
            <a:solidFill>
              <a:srgbClr val="2C3A57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7"/>
          <p:cNvSpPr/>
          <p:nvPr/>
        </p:nvSpPr>
        <p:spPr>
          <a:xfrm>
            <a:off x="4229100" y="1664208"/>
            <a:ext cx="640080" cy="640080"/>
          </a:xfrm>
          <a:prstGeom prst="ellipse">
            <a:avLst/>
          </a:prstGeom>
          <a:solidFill>
            <a:srgbClr val="34D399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5521" y="183062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91840" y="235915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291840" y="26517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35040" y="1554480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1A2336"/>
          </a:solidFill>
          <a:ln w="12700">
            <a:solidFill>
              <a:srgbClr val="2C3A57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1"/>
          <p:cNvSpPr/>
          <p:nvPr/>
        </p:nvSpPr>
        <p:spPr>
          <a:xfrm>
            <a:off x="6972300" y="1664208"/>
            <a:ext cx="640080" cy="640080"/>
          </a:xfrm>
          <a:prstGeom prst="ellipse">
            <a:avLst/>
          </a:prstGeom>
          <a:solidFill>
            <a:srgbClr val="A78BFA"/>
          </a:solidFill>
          <a:ln/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8721" y="1830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35040" y="235915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035040" y="26517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48640" y="3246120"/>
            <a:ext cx="3703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una API?</a:t>
            </a: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la forma en que dos programas se hablan. El agente le manda al LLM, por una llamada de internet, el ticket y las soluciones que encontró; el LLM le devuelve la respuesta ya redactada para el técnico.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4572000" y="3200400"/>
            <a:ext cx="4023360" cy="1627632"/>
          </a:xfrm>
          <a:prstGeom prst="roundRect">
            <a:avLst>
              <a:gd name="adj" fmla="val 3933"/>
            </a:avLst>
          </a:prstGeom>
          <a:solidFill>
            <a:srgbClr val="10182A"/>
          </a:solidFill>
          <a:ln w="12700">
            <a:solidFill>
              <a:srgbClr val="2C3A57"/>
            </a:solidFill>
            <a:prstDash val="solid"/>
          </a:ln>
          <a:effectLst>
            <a:outerShdw blurRad="1143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6"/>
          <p:cNvSpPr/>
          <p:nvPr/>
        </p:nvSpPr>
        <p:spPr>
          <a:xfrm>
            <a:off x="4754880" y="3355848"/>
            <a:ext cx="100584" cy="100584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Shape 17"/>
          <p:cNvSpPr/>
          <p:nvPr/>
        </p:nvSpPr>
        <p:spPr>
          <a:xfrm>
            <a:off x="4919472" y="3355848"/>
            <a:ext cx="100584" cy="100584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Shape 18"/>
          <p:cNvSpPr/>
          <p:nvPr/>
        </p:nvSpPr>
        <p:spPr>
          <a:xfrm>
            <a:off x="5084064" y="3355848"/>
            <a:ext cx="100584" cy="100584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Text 19"/>
          <p:cNvSpPr/>
          <p:nvPr/>
        </p:nvSpPr>
        <p:spPr>
          <a:xfrm>
            <a:off x="4800600" y="3657600"/>
            <a:ext cx="35661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8A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el agente consulta al LLM por API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respuesta = </a:t>
            </a:r>
            <a:r>
              <a:rPr lang="en-US" sz="12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</a:t>
            </a:r>
            <a:r>
              <a:rPr lang="en-US" sz="125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.consultar(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ticket   = </a:t>
            </a:r>
            <a:r>
              <a:rPr lang="en-US" sz="1250" dirty="0">
                <a:solidFill>
                  <a:srgbClr val="7DD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datos_del_ticket</a:t>
            </a:r>
            <a:r>
              <a:rPr lang="en-US" sz="125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contexto = </a:t>
            </a:r>
            <a:r>
              <a:rPr lang="en-US" sz="1250" dirty="0">
                <a:solidFill>
                  <a:srgbClr val="7DD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soluciones_kb</a:t>
            </a:r>
            <a:r>
              <a:rPr lang="en-US" sz="125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¡Gracias!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48640" y="23774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¿Preguntas?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965960" y="32004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1965960" y="32004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15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subprocess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794760" y="32004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794760" y="32004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15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23560" y="32004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5623560" y="32004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15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watchdog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Automatización en Python · Soporte de Infraestructura · ISTEA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1610</Words>
  <Application>Microsoft Macintosh PowerPoint</Application>
  <PresentationFormat>Presentación en pantalla (16:9)</PresentationFormat>
  <Paragraphs>170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Automatizacion con Python</dc:title>
  <dc:subject>PptxGenJS Presentation</dc:subject>
  <dc:creator>ISTEA</dc:creator>
  <cp:lastModifiedBy>Cristian Nicolas Castagnola</cp:lastModifiedBy>
  <cp:revision>1</cp:revision>
  <dcterms:created xsi:type="dcterms:W3CDTF">2026-06-21T20:37:45Z</dcterms:created>
  <dcterms:modified xsi:type="dcterms:W3CDTF">2026-06-21T20:40:08Z</dcterms:modified>
</cp:coreProperties>
</file>